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Caveat" panose="020B0604020202020204" charset="0"/>
      <p:regular r:id="rId12"/>
      <p:bold r:id="rId13"/>
    </p:embeddedFont>
    <p:embeddedFont>
      <p:font typeface="Cavolini" panose="03000502040302020204" pitchFamily="66" charset="0"/>
      <p:regular r:id="rId14"/>
      <p:bold r:id="rId15"/>
    </p:embeddedFont>
    <p:embeddedFont>
      <p:font typeface="Comic Sans MS" panose="030F0702030302020204" pitchFamily="66" charset="0"/>
      <p:regular r:id="rId16"/>
      <p:bold r:id="rId17"/>
      <p:italic r:id="rId18"/>
      <p:boldItalic r:id="rId19"/>
    </p:embeddedFont>
    <p:embeddedFont>
      <p:font typeface="DM Sans" pitchFamily="2" charset="0"/>
      <p:regular r:id="rId20"/>
      <p:bold r:id="rId21"/>
      <p:italic r:id="rId22"/>
      <p:boldItalic r:id="rId23"/>
    </p:embeddedFont>
    <p:embeddedFont>
      <p:font typeface="Maven Pro" panose="020B0604020202020204" charset="0"/>
      <p:regular r:id="rId24"/>
      <p:bold r:id="rId25"/>
    </p:embeddedFont>
    <p:embeddedFont>
      <p:font typeface="Nunito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119916-CCCA-40CF-8CB0-AD1403734CA5}">
  <a:tblStyle styleId="{13119916-CCCA-40CF-8CB0-AD1403734CA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44" y="1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9790426" y="4546120"/>
            <a:ext cx="2255173" cy="2310006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6724502" y="0"/>
            <a:ext cx="5085303" cy="5118675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1098667" y="2151750"/>
            <a:ext cx="5673900" cy="2497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1098667" y="4795067"/>
            <a:ext cx="5673900" cy="92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1098667" y="2151767"/>
            <a:ext cx="7810500" cy="2497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4574100" cy="3388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6538200" y="2653400"/>
            <a:ext cx="4574100" cy="3388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4416000" cy="212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738400" y="3079567"/>
            <a:ext cx="4416000" cy="2962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9155392" y="1742"/>
            <a:ext cx="3023192" cy="3468833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1098667" y="1018133"/>
            <a:ext cx="7810500" cy="476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4574100" cy="26535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738400" y="3657604"/>
            <a:ext cx="4574100" cy="9681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6538267" y="881333"/>
            <a:ext cx="4574100" cy="51609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951176" y="5129497"/>
            <a:ext cx="1100560" cy="1100560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738400" y="5518633"/>
            <a:ext cx="7790700" cy="71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69" y="5465463"/>
            <a:ext cx="12191743" cy="1392365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851500" y="1030300"/>
            <a:ext cx="8489100" cy="248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851500" y="3616400"/>
            <a:ext cx="8489100" cy="14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marL="914400" lvl="1" indent="-3238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marL="1371600" lvl="2" indent="-3238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marL="1828800" lvl="3" indent="-3238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marL="2286000" lvl="4" indent="-3238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marL="2743200" lvl="5" indent="-3238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marL="3200400" lvl="6" indent="-3238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marL="3657600" lvl="7" indent="-3238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marL="4114800" lvl="8" indent="-3238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Nunito"/>
              <a:buChar char="●"/>
              <a:defRPr sz="1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a.istockphoto.com/id/1411552087/vector/comparison-of-work-efficiency-and-speed-different-realities-or-ways-to-reach-success.jpg?s=612x612&amp;w=0&amp;k=20&amp;c=ihUH0VdpNqBMJ_bEQWBvYg3wBbtsBzD1zBwaypGoR9c=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static.vecteezy.com/system/resources/previews/022/059/183/non_2x/programming-code-abstract-technology-background-of-software-developer-and-computer-script-generative-ai-photo.jpg" TargetMode="External"/><Relationship Id="rId5" Type="http://schemas.openxmlformats.org/officeDocument/2006/relationships/image" Target="../media/image14.png"/><Relationship Id="rId4" Type="http://schemas.openxmlformats.org/officeDocument/2006/relationships/hyperlink" Target="https://images.stockcake.com/public/8/6/6/86656053-feb8-4139-ad64-929e7ae0234b_large/cluttered-office-space-stockcake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/>
        </p:nvSpPr>
        <p:spPr>
          <a:xfrm>
            <a:off x="190500" y="1625400"/>
            <a:ext cx="11811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latin typeface="Caveat"/>
                <a:ea typeface="Caveat"/>
                <a:cs typeface="Caveat"/>
                <a:sym typeface="Caveat"/>
              </a:rPr>
              <a:t>Contract Monthly Claim System</a:t>
            </a:r>
            <a:endParaRPr sz="7200" b="1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190500" y="3429000"/>
            <a:ext cx="1143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>
                <a:latin typeface="Comic Sans MS"/>
                <a:ea typeface="Comic Sans MS"/>
                <a:cs typeface="Comic Sans MS"/>
                <a:sym typeface="Comic Sans MS"/>
              </a:rPr>
              <a:t>Streamlining Claims, Improving Efficiency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966912"/>
            <a:ext cx="55245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6025" y="1976437"/>
            <a:ext cx="5505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4"/>
          <p:cNvSpPr txBox="1"/>
          <p:nvPr/>
        </p:nvSpPr>
        <p:spPr>
          <a:xfrm>
            <a:off x="561975" y="2795587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4"/>
          <p:cNvSpPr txBox="1"/>
          <p:nvPr/>
        </p:nvSpPr>
        <p:spPr>
          <a:xfrm>
            <a:off x="561975" y="2063362"/>
            <a:ext cx="5286300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Char char="●"/>
            </a:pPr>
            <a:r>
              <a:rPr lang="en-US" sz="2000" b="1" dirty="0">
                <a:solidFill>
                  <a:srgbClr val="333333"/>
                </a:solidFill>
              </a:rPr>
              <a:t>Manual Submissions: Lecturers struggle with paper forms and loss off documents.</a:t>
            </a:r>
            <a:endParaRPr sz="2000" b="1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Char char="●"/>
            </a:pPr>
            <a:r>
              <a:rPr lang="en-US" sz="2000" b="1" dirty="0">
                <a:solidFill>
                  <a:srgbClr val="333333"/>
                </a:solidFill>
              </a:rPr>
              <a:t>Delays: Coordinators face policy checks and bottlenecks.</a:t>
            </a:r>
            <a:endParaRPr sz="2000" b="1" dirty="0"/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Char char="●"/>
            </a:pPr>
            <a:r>
              <a:rPr lang="en-US" sz="2000" b="1" dirty="0">
                <a:solidFill>
                  <a:srgbClr val="333333"/>
                </a:solidFill>
              </a:rPr>
              <a:t>No</a:t>
            </a:r>
            <a:r>
              <a:rPr lang="en-US" sz="2000" b="1" i="0" u="none" strike="noStrike" cap="none" dirty="0">
                <a:solidFill>
                  <a:srgbClr val="333333"/>
                </a:solidFill>
              </a:rPr>
              <a:t> Transparency: No audit trail for claim status or approvals.</a:t>
            </a:r>
            <a:endParaRPr sz="2000" b="1" i="0" u="none" strike="noStrike" cap="none" dirty="0">
              <a:solidFill>
                <a:srgbClr val="333333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1417375" y="381000"/>
            <a:ext cx="9504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latin typeface="Caveat"/>
                <a:ea typeface="Caveat"/>
                <a:cs typeface="Caveat"/>
                <a:sym typeface="Caveat"/>
              </a:rPr>
              <a:t>Challenge: Manual Inefficiency</a:t>
            </a:r>
            <a:endParaRPr sz="6000" b="1" dirty="0"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/>
          <p:nvPr/>
        </p:nvSpPr>
        <p:spPr>
          <a:xfrm>
            <a:off x="952500" y="4438650"/>
            <a:ext cx="10287000" cy="38100"/>
          </a:xfrm>
          <a:prstGeom prst="roundRect">
            <a:avLst>
              <a:gd name="adj" fmla="val 16667"/>
            </a:avLst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895925" y="4928676"/>
            <a:ext cx="2376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5088"/>
                </a:solidFill>
                <a:latin typeface="Caveat"/>
                <a:ea typeface="Caveat"/>
                <a:cs typeface="Caveat"/>
                <a:sym typeface="Caveat"/>
              </a:rPr>
              <a:t>Submission</a:t>
            </a:r>
            <a:endParaRPr sz="2700" b="1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895925" y="5462725"/>
            <a:ext cx="21984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555555"/>
                </a:solidFill>
              </a:rPr>
              <a:t>Lecturers submit claims &amp; documents online.</a:t>
            </a:r>
            <a:endParaRPr b="1" i="0" u="none" strike="noStrike" cap="none">
              <a:solidFill>
                <a:srgbClr val="555555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555555"/>
              </a:solidFill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3570463" y="3061092"/>
            <a:ext cx="2376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5088"/>
                </a:solidFill>
                <a:latin typeface="Caveat"/>
                <a:ea typeface="Caveat"/>
                <a:cs typeface="Caveat"/>
                <a:sym typeface="Caveat"/>
              </a:rPr>
              <a:t>Coordinator. Review</a:t>
            </a:r>
            <a:endParaRPr sz="27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3627025" y="3501950"/>
            <a:ext cx="22632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555555"/>
                </a:solidFill>
              </a:rPr>
              <a:t>Automated policy checks &amp; initial verification.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297" name="Google Shape;297;p15"/>
          <p:cNvSpPr txBox="1"/>
          <p:nvPr/>
        </p:nvSpPr>
        <p:spPr>
          <a:xfrm>
            <a:off x="6245103" y="5051970"/>
            <a:ext cx="2376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5088"/>
                </a:solidFill>
                <a:latin typeface="Caveat"/>
                <a:ea typeface="Caveat"/>
                <a:cs typeface="Caveat"/>
                <a:sym typeface="Caveat"/>
              </a:rPr>
              <a:t>Manager. Approval</a:t>
            </a:r>
            <a:endParaRPr sz="2700" b="1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6301650" y="5556554"/>
            <a:ext cx="22632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555555"/>
                </a:solidFill>
              </a:rPr>
              <a:t>Final sign-off transitions status to "Settled".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299" name="Google Shape;299;p15"/>
          <p:cNvSpPr txBox="1"/>
          <p:nvPr/>
        </p:nvSpPr>
        <p:spPr>
          <a:xfrm>
            <a:off x="8919718" y="3061104"/>
            <a:ext cx="2376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5088"/>
                </a:solidFill>
                <a:latin typeface="Caveat"/>
                <a:ea typeface="Caveat"/>
                <a:cs typeface="Caveat"/>
                <a:sym typeface="Caveat"/>
              </a:rPr>
              <a:t>HR Processing</a:t>
            </a:r>
            <a:endParaRPr sz="2700" b="1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8976195" y="3526679"/>
            <a:ext cx="2263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555555"/>
                </a:solidFill>
              </a:rPr>
              <a:t>Automated invoicing &amp; payment execution.</a:t>
            </a:r>
            <a:endParaRPr b="1" i="0" u="none" strike="noStrike" cap="none" dirty="0">
              <a:solidFill>
                <a:srgbClr val="555555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555555"/>
              </a:solidFill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381000" y="381000"/>
            <a:ext cx="11811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 b="1" i="0" u="none" strike="noStrike" cap="none">
                <a:solidFill>
                  <a:srgbClr val="005088"/>
                </a:solidFill>
                <a:latin typeface="Caveat"/>
                <a:ea typeface="Caveat"/>
                <a:cs typeface="Caveat"/>
                <a:sym typeface="Caveat"/>
              </a:rPr>
              <a:t>Solution: End-to-End Digital Workflow</a:t>
            </a:r>
            <a:endParaRPr sz="6800" b="1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1969740" y="45815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50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4644330" y="45815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50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7318920" y="45815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50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9993510" y="45815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50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2481262"/>
            <a:ext cx="361950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0" y="2481262"/>
            <a:ext cx="361950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2481262"/>
            <a:ext cx="361950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6"/>
          <p:cNvSpPr txBox="1"/>
          <p:nvPr/>
        </p:nvSpPr>
        <p:spPr>
          <a:xfrm>
            <a:off x="785574" y="3557587"/>
            <a:ext cx="281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Policy Verification</a:t>
            </a:r>
            <a:endParaRPr sz="32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14" name="Google Shape;314;p16"/>
          <p:cNvSpPr txBox="1"/>
          <p:nvPr/>
        </p:nvSpPr>
        <p:spPr>
          <a:xfrm>
            <a:off x="666750" y="4252901"/>
            <a:ext cx="304800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3F0DF"/>
                </a:solidFill>
              </a:rPr>
              <a:t>Coordinators receive automated alerts for policy violations, </a:t>
            </a:r>
            <a:r>
              <a:rPr lang="en-US" b="1" dirty="0">
                <a:solidFill>
                  <a:srgbClr val="F3F0DF"/>
                </a:solidFill>
              </a:rPr>
              <a:t>making sure</a:t>
            </a:r>
            <a:r>
              <a:rPr lang="en-US" b="1" i="0" u="none" strike="noStrike" cap="none" dirty="0">
                <a:solidFill>
                  <a:srgbClr val="F3F0DF"/>
                </a:solidFill>
              </a:rPr>
              <a:t> of compliance before any claim is processed.</a:t>
            </a:r>
            <a:endParaRPr b="1" i="0" u="none" strike="noStrike" cap="none" dirty="0">
              <a:solidFill>
                <a:srgbClr val="F3F0DF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F3F0DF"/>
              </a:solidFill>
            </a:endParaRPr>
          </a:p>
        </p:txBody>
      </p:sp>
      <p:sp>
        <p:nvSpPr>
          <p:cNvPr id="315" name="Google Shape;315;p16"/>
          <p:cNvSpPr txBox="1"/>
          <p:nvPr/>
        </p:nvSpPr>
        <p:spPr>
          <a:xfrm>
            <a:off x="4665821" y="3557587"/>
            <a:ext cx="28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Role-Based Access</a:t>
            </a:r>
            <a:endParaRPr sz="32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16" name="Google Shape;316;p16"/>
          <p:cNvSpPr txBox="1"/>
          <p:nvPr/>
        </p:nvSpPr>
        <p:spPr>
          <a:xfrm>
            <a:off x="4572000" y="4252912"/>
            <a:ext cx="30480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3F0DF"/>
                </a:solidFill>
              </a:rPr>
              <a:t>Secure access controls (ASP.NET Identity) </a:t>
            </a:r>
            <a:r>
              <a:rPr lang="en-US" b="1" dirty="0">
                <a:solidFill>
                  <a:srgbClr val="F3F0DF"/>
                </a:solidFill>
              </a:rPr>
              <a:t>makes sure</a:t>
            </a:r>
            <a:r>
              <a:rPr lang="en-US" b="1" i="0" u="none" strike="noStrike" cap="none" dirty="0">
                <a:solidFill>
                  <a:srgbClr val="F3F0DF"/>
                </a:solidFill>
              </a:rPr>
              <a:t> Managers only see claims ready for final approval.</a:t>
            </a:r>
            <a:endParaRPr b="1" i="0" u="none" strike="noStrike" cap="none" dirty="0">
              <a:solidFill>
                <a:srgbClr val="F3F0DF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F3F0DF"/>
              </a:solidFill>
            </a:endParaRPr>
          </a:p>
        </p:txBody>
      </p:sp>
      <p:sp>
        <p:nvSpPr>
          <p:cNvPr id="317" name="Google Shape;317;p16"/>
          <p:cNvSpPr txBox="1"/>
          <p:nvPr/>
        </p:nvSpPr>
        <p:spPr>
          <a:xfrm>
            <a:off x="9161145" y="3557587"/>
            <a:ext cx="168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Final Audit</a:t>
            </a:r>
            <a:endParaRPr sz="32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18" name="Google Shape;318;p16"/>
          <p:cNvSpPr txBox="1"/>
          <p:nvPr/>
        </p:nvSpPr>
        <p:spPr>
          <a:xfrm>
            <a:off x="8477250" y="4252912"/>
            <a:ext cx="30480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3F0DF"/>
                </a:solidFill>
              </a:rPr>
              <a:t>Manager approval locks the claim and timestamps it, creating a reliable audit trail for the institution.</a:t>
            </a:r>
            <a:endParaRPr b="1" i="0" u="none" strike="noStrike" cap="none">
              <a:solidFill>
                <a:srgbClr val="F3F0DF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F3F0DF"/>
              </a:solidFill>
            </a:endParaRPr>
          </a:p>
        </p:txBody>
      </p:sp>
      <p:pic>
        <p:nvPicPr>
          <p:cNvPr id="319" name="Google Shape;3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62150" y="28241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0" y="28241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44075" y="282416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6"/>
          <p:cNvSpPr txBox="1"/>
          <p:nvPr/>
        </p:nvSpPr>
        <p:spPr>
          <a:xfrm>
            <a:off x="381000" y="381000"/>
            <a:ext cx="1181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00" b="1" i="0" u="none" strike="noStrike" cap="none">
                <a:solidFill>
                  <a:srgbClr val="005088"/>
                </a:solidFill>
                <a:latin typeface="Caveat"/>
                <a:ea typeface="Caveat"/>
                <a:cs typeface="Caveat"/>
                <a:sym typeface="Caveat"/>
              </a:rPr>
              <a:t>Workflow Automation &amp; Control</a:t>
            </a:r>
            <a:endParaRPr sz="7900"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475" y="2054087"/>
            <a:ext cx="11430000" cy="3438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8" name="Google Shape;328;p17"/>
          <p:cNvGraphicFramePr/>
          <p:nvPr/>
        </p:nvGraphicFramePr>
        <p:xfrm>
          <a:off x="485975" y="2309812"/>
          <a:ext cx="11049000" cy="2438400"/>
        </p:xfrm>
        <a:graphic>
          <a:graphicData uri="http://schemas.openxmlformats.org/drawingml/2006/table">
            <a:tbl>
              <a:tblPr firstRow="1" bandRow="1">
                <a:noFill/>
                <a:tableStyleId>{13119916-CCCA-40CF-8CB0-AD1403734CA5}</a:tableStyleId>
              </a:tblPr>
              <a:tblGrid>
                <a:gridCol w="277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3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Lecturer Name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Contractor No.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Hourly Rate (R)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0" u="none" strike="noStrike" cap="none">
                          <a:solidFill>
                            <a:srgbClr val="00508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Actions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L. Thompson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CONT-001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150.00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Reset Password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A. Peterson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CONT-002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185.00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Reset Password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S. Naidoo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CONT-003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200.00</a:t>
                      </a:r>
                      <a:endParaRPr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Reset Password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9" name="Google Shape;329;p17"/>
          <p:cNvSpPr txBox="1"/>
          <p:nvPr/>
        </p:nvSpPr>
        <p:spPr>
          <a:xfrm>
            <a:off x="571499" y="5025121"/>
            <a:ext cx="11049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>
                <a:solidFill>
                  <a:srgbClr val="666666"/>
                </a:solidFill>
              </a:rPr>
              <a:t>Features: Real-time AJAX updates for hourly rates and secure password resets without database access.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330" name="Google Shape;330;p17"/>
          <p:cNvSpPr/>
          <p:nvPr/>
        </p:nvSpPr>
        <p:spPr>
          <a:xfrm>
            <a:off x="571500" y="3524250"/>
            <a:ext cx="27778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3349376" y="3524250"/>
            <a:ext cx="27467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6096148" y="3524250"/>
            <a:ext cx="2870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8967043" y="3524250"/>
            <a:ext cx="26534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571500" y="4133850"/>
            <a:ext cx="27778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3349376" y="4133850"/>
            <a:ext cx="27467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6096148" y="4133850"/>
            <a:ext cx="2870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8967043" y="4133850"/>
            <a:ext cx="26534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571500" y="4743450"/>
            <a:ext cx="27778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3349376" y="4743450"/>
            <a:ext cx="27467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6096148" y="4743450"/>
            <a:ext cx="2870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8967043" y="4743450"/>
            <a:ext cx="26534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571500" y="5353050"/>
            <a:ext cx="27778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3349376" y="5353050"/>
            <a:ext cx="27467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6096148" y="5353050"/>
            <a:ext cx="2870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8967043" y="5353050"/>
            <a:ext cx="26534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381000" y="381000"/>
            <a:ext cx="11811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5088"/>
                </a:solidFill>
                <a:latin typeface="Caveat"/>
                <a:ea typeface="Caveat"/>
                <a:cs typeface="Caveat"/>
                <a:sym typeface="Caveat"/>
              </a:rPr>
              <a:t>HR Automation</a:t>
            </a:r>
            <a:r>
              <a:rPr lang="en-US" sz="6000" b="1">
                <a:solidFill>
                  <a:srgbClr val="005088"/>
                </a:solidFill>
                <a:latin typeface="Caveat"/>
                <a:ea typeface="Caveat"/>
                <a:cs typeface="Caveat"/>
                <a:sym typeface="Caveat"/>
              </a:rPr>
              <a:t>; </a:t>
            </a:r>
            <a:r>
              <a:rPr lang="en-US" sz="6000" b="1" i="0" u="none" strike="noStrike" cap="none">
                <a:solidFill>
                  <a:srgbClr val="005088"/>
                </a:solidFill>
                <a:latin typeface="Caveat"/>
                <a:ea typeface="Caveat"/>
                <a:cs typeface="Caveat"/>
                <a:sym typeface="Caveat"/>
              </a:rPr>
              <a:t>Lecturer Data Management</a:t>
            </a:r>
            <a:endParaRPr sz="6000"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"/>
          <p:cNvSpPr txBox="1"/>
          <p:nvPr/>
        </p:nvSpPr>
        <p:spPr>
          <a:xfrm>
            <a:off x="2114550" y="4925601"/>
            <a:ext cx="8305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Automated Excel Generation using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ClosedXML</a:t>
            </a:r>
            <a:endParaRPr sz="2000" b="1" dirty="0">
              <a:latin typeface="+mn-lt"/>
            </a:endParaRPr>
          </a:p>
        </p:txBody>
      </p:sp>
      <p:sp>
        <p:nvSpPr>
          <p:cNvPr id="352" name="Google Shape;352;p18"/>
          <p:cNvSpPr txBox="1"/>
          <p:nvPr/>
        </p:nvSpPr>
        <p:spPr>
          <a:xfrm>
            <a:off x="2638425" y="2231693"/>
            <a:ext cx="2238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rgbClr val="005088"/>
                </a:solidFill>
                <a:latin typeface="Caveat" panose="020B0604020202020204" charset="0"/>
                <a:ea typeface="Merriweather"/>
                <a:cs typeface="Merriweather"/>
                <a:sym typeface="Merriweather"/>
              </a:rPr>
              <a:t>12</a:t>
            </a:r>
            <a:endParaRPr sz="9600" dirty="0">
              <a:latin typeface="Caveat" panose="020B0604020202020204" charset="0"/>
            </a:endParaRPr>
          </a:p>
        </p:txBody>
      </p:sp>
      <p:sp>
        <p:nvSpPr>
          <p:cNvPr id="353" name="Google Shape;353;p18"/>
          <p:cNvSpPr txBox="1"/>
          <p:nvPr/>
        </p:nvSpPr>
        <p:spPr>
          <a:xfrm>
            <a:off x="2790824" y="3574852"/>
            <a:ext cx="2238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33333"/>
                </a:solidFill>
                <a:latin typeface="+mn-lt"/>
                <a:ea typeface="DM Sans"/>
                <a:cs typeface="DM Sans"/>
                <a:sym typeface="DM Sans"/>
              </a:rPr>
              <a:t>Total Settled Claims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4" name="Google Shape;354;p18"/>
          <p:cNvSpPr txBox="1"/>
          <p:nvPr/>
        </p:nvSpPr>
        <p:spPr>
          <a:xfrm>
            <a:off x="6267450" y="2374344"/>
            <a:ext cx="3133725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005088"/>
                </a:solidFill>
                <a:latin typeface="Caveat" panose="020B0604020202020204" charset="0"/>
                <a:ea typeface="Merriweather"/>
                <a:cs typeface="Merriweather"/>
                <a:sym typeface="Merriweather"/>
              </a:rPr>
              <a:t>R45k</a:t>
            </a:r>
            <a:endParaRPr sz="8000" dirty="0">
              <a:latin typeface="Caveat" panose="020B0604020202020204" charset="0"/>
            </a:endParaRPr>
          </a:p>
        </p:txBody>
      </p:sp>
      <p:sp>
        <p:nvSpPr>
          <p:cNvPr id="355" name="Google Shape;355;p18"/>
          <p:cNvSpPr txBox="1"/>
          <p:nvPr/>
        </p:nvSpPr>
        <p:spPr>
          <a:xfrm>
            <a:off x="6267450" y="3533775"/>
            <a:ext cx="31337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33333"/>
                </a:solidFill>
                <a:latin typeface="+mn-lt"/>
                <a:ea typeface="DM Sans"/>
                <a:cs typeface="DM Sans"/>
                <a:sym typeface="DM Sans"/>
              </a:rPr>
              <a:t>Pending Payments</a:t>
            </a:r>
            <a:endParaRPr sz="2000" dirty="0">
              <a:latin typeface="+mn-lt"/>
            </a:endParaRPr>
          </a:p>
        </p:txBody>
      </p:sp>
      <p:pic>
        <p:nvPicPr>
          <p:cNvPr id="356" name="Google Shape;3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V="1">
            <a:off x="2886075" y="4948609"/>
            <a:ext cx="408830" cy="368573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8"/>
          <p:cNvSpPr txBox="1"/>
          <p:nvPr/>
        </p:nvSpPr>
        <p:spPr>
          <a:xfrm>
            <a:off x="2419350" y="419100"/>
            <a:ext cx="88677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088"/>
                </a:solidFill>
                <a:latin typeface="Caveat" panose="020B0604020202020204" charset="0"/>
                <a:ea typeface="Merriweather"/>
                <a:cs typeface="Merriweather"/>
                <a:sym typeface="Merriweather"/>
              </a:rPr>
              <a:t>HR Automation: Claim Processing</a:t>
            </a:r>
            <a:endParaRPr sz="4800" dirty="0">
              <a:latin typeface="Caveat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966912"/>
            <a:ext cx="55245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0525" y="1976437"/>
            <a:ext cx="55054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9"/>
          <p:cNvSpPr txBox="1"/>
          <p:nvPr/>
        </p:nvSpPr>
        <p:spPr>
          <a:xfrm>
            <a:off x="6524775" y="2089825"/>
            <a:ext cx="5286300" cy="40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</a:rPr>
              <a:t>C# ASP.NET Core MVC: </a:t>
            </a:r>
            <a:r>
              <a:rPr lang="en-US" sz="1500" b="1">
                <a:solidFill>
                  <a:srgbClr val="333333"/>
                </a:solidFill>
              </a:rPr>
              <a:t>P</a:t>
            </a:r>
            <a:r>
              <a:rPr lang="en-US" sz="1500" b="1" i="0" u="none" strike="noStrike" cap="none">
                <a:solidFill>
                  <a:srgbClr val="333333"/>
                </a:solidFill>
              </a:rPr>
              <a:t>erformance, cross-platform framework.</a:t>
            </a:r>
            <a:endParaRPr sz="1500" b="1">
              <a:solidFill>
                <a:srgbClr val="333333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33"/>
                </a:solidFill>
              </a:rPr>
              <a:t>ASP.NET Identity: Industry-standard security for access control.</a:t>
            </a:r>
            <a:endParaRPr sz="1500" b="1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33"/>
                </a:solidFill>
              </a:rPr>
              <a:t>Entity Framework Core: Data access and management.</a:t>
            </a:r>
            <a:endParaRPr sz="1500" b="1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33"/>
                </a:solidFill>
              </a:rPr>
              <a:t>Closed XML &amp; Web Application Program interface: Allows for automation features for reporting and data updates.</a:t>
            </a:r>
            <a:endParaRPr sz="1500" b="1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333333"/>
              </a:solidFill>
            </a:endParaRPr>
          </a:p>
        </p:txBody>
      </p:sp>
      <p:sp>
        <p:nvSpPr>
          <p:cNvPr id="365" name="Google Shape;365;p19"/>
          <p:cNvSpPr txBox="1"/>
          <p:nvPr/>
        </p:nvSpPr>
        <p:spPr>
          <a:xfrm>
            <a:off x="6467475" y="4638675"/>
            <a:ext cx="57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9"/>
          <p:cNvSpPr txBox="1"/>
          <p:nvPr/>
        </p:nvSpPr>
        <p:spPr>
          <a:xfrm>
            <a:off x="1535900" y="438050"/>
            <a:ext cx="94569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 b="1" i="0" u="none" strike="noStrike" cap="none">
                <a:solidFill>
                  <a:srgbClr val="005088"/>
                </a:solidFill>
                <a:latin typeface="Caveat"/>
                <a:ea typeface="Caveat"/>
                <a:cs typeface="Caveat"/>
                <a:sym typeface="Caveat"/>
              </a:rPr>
              <a:t>Technical Architecture</a:t>
            </a:r>
            <a:endParaRPr sz="7100" b="1"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1757362"/>
            <a:ext cx="7620000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0"/>
          <p:cNvSpPr txBox="1"/>
          <p:nvPr/>
        </p:nvSpPr>
        <p:spPr>
          <a:xfrm>
            <a:off x="2695575" y="2328862"/>
            <a:ext cx="6801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Caveat"/>
                <a:ea typeface="Caveat"/>
                <a:cs typeface="Caveat"/>
                <a:sym typeface="Caveat"/>
              </a:rPr>
              <a:t>Delivering Value</a:t>
            </a:r>
            <a:endParaRPr sz="6000" b="1">
              <a:solidFill>
                <a:srgbClr val="F8FAFC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2623425" y="3271825"/>
            <a:ext cx="68730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3F0DF"/>
                </a:solidFill>
              </a:rPr>
              <a:t>The Contract Monthly Claim System transforms a manual </a:t>
            </a:r>
            <a:r>
              <a:rPr lang="en-US" sz="1800" b="1">
                <a:solidFill>
                  <a:srgbClr val="F3F0DF"/>
                </a:solidFill>
              </a:rPr>
              <a:t>struggle</a:t>
            </a:r>
            <a:r>
              <a:rPr lang="en-US" sz="1800" b="1" i="0" u="none" strike="noStrike" cap="none">
                <a:solidFill>
                  <a:srgbClr val="F3F0DF"/>
                </a:solidFill>
              </a:rPr>
              <a:t> into a streamlined, automated, compliant and digital asset.</a:t>
            </a:r>
            <a:endParaRPr sz="1800" b="1" i="0" u="none" strike="noStrike" cap="none">
              <a:solidFill>
                <a:srgbClr val="F3F0DF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3F0D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088" y="1720782"/>
            <a:ext cx="1400489" cy="1335223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1"/>
          <p:cNvSpPr txBox="1"/>
          <p:nvPr/>
        </p:nvSpPr>
        <p:spPr>
          <a:xfrm>
            <a:off x="1857375" y="1940567"/>
            <a:ext cx="10334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  <a:hlinkClick r:id="rId4"/>
              </a:rPr>
              <a:t>https://images.stockcake.com/public/8/6/6/86656053-feb8-4139-ad64-929e7ae0234b_large/cluttered-office-space-stockcake.jpg</a:t>
            </a:r>
            <a:endParaRPr lang="en-US" sz="1600" dirty="0">
              <a:latin typeface="+mn-lt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Source: </a:t>
            </a:r>
            <a:r>
              <a:rPr lang="en-US" sz="1600" b="0" i="0" u="none" strike="noStrike" cap="none" dirty="0" err="1">
                <a:solidFill>
                  <a:srgbClr val="4F46E5"/>
                </a:solidFill>
                <a:latin typeface="+mn-lt"/>
                <a:ea typeface="DM Sans"/>
                <a:cs typeface="DM Sans"/>
                <a:sym typeface="DM Sans"/>
              </a:rPr>
              <a:t>stockcake.com</a:t>
            </a:r>
            <a:endParaRPr sz="1600" dirty="0">
              <a:latin typeface="+mn-lt"/>
            </a:endParaRPr>
          </a:p>
        </p:txBody>
      </p:sp>
      <p:pic>
        <p:nvPicPr>
          <p:cNvPr id="384" name="Google Shape;38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0797" y="3647762"/>
            <a:ext cx="1395780" cy="1282997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1"/>
          <p:cNvSpPr txBox="1"/>
          <p:nvPr/>
        </p:nvSpPr>
        <p:spPr>
          <a:xfrm>
            <a:off x="1857375" y="3613189"/>
            <a:ext cx="10334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  <a:hlinkClick r:id="rId6"/>
              </a:rPr>
              <a:t>https://static.vecteezy.com/system/resources/previews/022/059/183/non_2x/programming-code-abstract-technology-background-of-software-developer-and-computer-script-generative-ai-photo.jpg</a:t>
            </a:r>
            <a:endParaRPr lang="en-US" sz="1600" b="0" i="0" u="none" strike="noStrike" cap="none" dirty="0">
              <a:solidFill>
                <a:srgbClr val="000000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Source: </a:t>
            </a:r>
            <a:r>
              <a:rPr lang="en-US" sz="1600" b="0" i="0" u="none" strike="noStrike" cap="none" dirty="0" err="1">
                <a:solidFill>
                  <a:srgbClr val="4F46E5"/>
                </a:solidFill>
                <a:latin typeface="+mn-lt"/>
                <a:ea typeface="DM Sans"/>
                <a:cs typeface="DM Sans"/>
                <a:sym typeface="DM Sans"/>
              </a:rPr>
              <a:t>www.vecteezy.com</a:t>
            </a:r>
            <a:endParaRPr sz="1600" dirty="0">
              <a:latin typeface="+mn-lt"/>
            </a:endParaRPr>
          </a:p>
        </p:txBody>
      </p:sp>
      <p:pic>
        <p:nvPicPr>
          <p:cNvPr id="387" name="Google Shape;38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4321" y="5344467"/>
            <a:ext cx="1278294" cy="1282997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1"/>
          <p:cNvSpPr txBox="1"/>
          <p:nvPr/>
        </p:nvSpPr>
        <p:spPr>
          <a:xfrm>
            <a:off x="1857374" y="5452915"/>
            <a:ext cx="1033462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  <a:hlinkClick r:id="rId8"/>
              </a:rPr>
              <a:t>https://media.istockphoto.com/id/1411552087/vector/comparison-of-work-efficiency-and-speed-different-realities-or-ways-to-reach-success.jpg?s=612x612&amp;w=0&amp;k=20&amp;c=ihUH0VdpNqBMJ_bEQWBvYg3wBbtsBzD1zBwaypGoR9c=</a:t>
            </a:r>
            <a:endParaRPr lang="en-US" b="0" i="0" u="none" strike="noStrike" cap="none" dirty="0">
              <a:solidFill>
                <a:srgbClr val="000000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Source: </a:t>
            </a:r>
            <a:r>
              <a:rPr lang="en-US" b="0" i="0" u="none" strike="noStrike" cap="none" dirty="0" err="1">
                <a:solidFill>
                  <a:srgbClr val="4F46E5"/>
                </a:solidFill>
                <a:latin typeface="+mn-lt"/>
                <a:ea typeface="DM Sans"/>
                <a:cs typeface="DM Sans"/>
                <a:sym typeface="DM Sans"/>
              </a:rPr>
              <a:t>www.istockphoto.com</a:t>
            </a:r>
            <a:endParaRPr dirty="0">
              <a:latin typeface="+mn-lt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3470867" y="285507"/>
            <a:ext cx="603738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5088"/>
                </a:solidFill>
                <a:latin typeface="Cavolini" panose="020B0502040504020204" pitchFamily="34" charset="0"/>
                <a:ea typeface="Merriweather"/>
                <a:cs typeface="Merriweather"/>
                <a:sym typeface="Merriweather"/>
              </a:rPr>
              <a:t>Image Sources</a:t>
            </a:r>
            <a:endParaRPr sz="6000" dirty="0">
              <a:latin typeface="Cavolini" panose="020B05020405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398</Words>
  <Application>Microsoft Office PowerPoint</Application>
  <PresentationFormat>Widescreen</PresentationFormat>
  <Paragraphs>63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Nunito</vt:lpstr>
      <vt:lpstr>Caveat</vt:lpstr>
      <vt:lpstr>Calibri</vt:lpstr>
      <vt:lpstr>Arial</vt:lpstr>
      <vt:lpstr>DM Sans</vt:lpstr>
      <vt:lpstr>Maven Pro</vt:lpstr>
      <vt:lpstr>Comic Sans MS</vt:lpstr>
      <vt:lpstr>Cavolini</vt:lpstr>
      <vt:lpstr>Momentum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Sheldon Govender</cp:lastModifiedBy>
  <cp:revision>4</cp:revision>
  <dcterms:modified xsi:type="dcterms:W3CDTF">2025-11-21T21:32:36Z</dcterms:modified>
</cp:coreProperties>
</file>